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3A57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B3A57"/>
                </a:solidFill>
                <a:latin typeface="Arial"/>
              </a:rPr>
              <a:t>Weighted share of assigned tweets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Weighted share</c:v>
                </c:pt>
              </c:strCache>
            </c:strRef>
          </c:tx>
          <c:spPr>
            <a:solidFill>
              <a:srgbClr val="245B7A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F29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Market outlook and signals</c:v>
                  </c:pt>
                  <c:pt idx="1">
                    <c:v>NFTs and altcoin communities</c:v>
                  </c:pt>
                  <c:pt idx="2">
                    <c:v>Crypto news and alerts</c:v>
                  </c:pt>
                  <c:pt idx="3">
                    <c:v>Airdrops and promotion</c:v>
                  </c:pt>
                  <c:pt idx="4">
                    <c:v>Lightning faucet claims</c:v>
                  </c:pt>
                  <c:pt idx="5">
                    <c:v>Coin Hunt World game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47.5</c:v>
                </c:pt>
                <c:pt idx="1">
                  <c:v>21.9</c:v>
                </c:pt>
                <c:pt idx="2">
                  <c:v>14.7</c:v>
                </c:pt>
                <c:pt idx="3">
                  <c:v>12</c:v>
                </c:pt>
                <c:pt idx="4">
                  <c:v>2.4</c:v>
                </c:pt>
                <c:pt idx="5">
                  <c:v>1.6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300" u="none">
                  <a:solidFill>
                    <a:srgbClr val="1F29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F29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3A57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B3A57"/>
                </a:solidFill>
                <a:latin typeface="Arial"/>
              </a:rPr>
              <a:t>Final holdout MAE (lower is better)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MAE</c:v>
                </c:pt>
              </c:strCache>
            </c:strRef>
          </c:tx>
          <c:spPr>
            <a:solidFill>
              <a:srgbClr val="245B7A"/>
            </a:solidFill>
            <a:effectLst/>
          </c:spPr>
          <c:invertIfNegative val="0"/>
          <c:dLbls>
            <c:numFmt formatCode="0.0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9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Mean benchmark</c:v>
                  </c:pt>
                  <c:pt idx="1">
                    <c:v>Forest + RoBERTa</c:v>
                  </c:pt>
                  <c:pt idx="2">
                    <c:v>Forest, no sentiment</c:v>
                  </c:pt>
                  <c:pt idx="3">
                    <c:v>Forest + VADER</c:v>
                  </c:pt>
                  <c:pt idx="4">
                    <c:v>Market Ridge</c:v>
                  </c:pt>
                  <c:pt idx="5">
                    <c:v>Ridge + RoBERTa</c:v>
                  </c:pt>
                  <c:pt idx="6">
                    <c:v>Ridge + VADER</c:v>
                  </c:pt>
                  <c:pt idx="7">
                    <c:v>Persistence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0.01169</c:v>
                </c:pt>
                <c:pt idx="1">
                  <c:v>0.01221</c:v>
                </c:pt>
                <c:pt idx="2">
                  <c:v>0.01242</c:v>
                </c:pt>
                <c:pt idx="3">
                  <c:v>0.01264</c:v>
                </c:pt>
                <c:pt idx="4">
                  <c:v>0.01304</c:v>
                </c:pt>
                <c:pt idx="5">
                  <c:v>0.0131</c:v>
                </c:pt>
                <c:pt idx="6">
                  <c:v>0.01327</c:v>
                </c:pt>
                <c:pt idx="7">
                  <c:v>0.01725</c:v>
                </c:pt>
              </c:numCache>
            </c:numRef>
          </c:val>
        </c:ser>
        <c:dLbls>
          <c:numFmt formatCode="0.0000" sourceLinked="0"/>
          <c:txPr>
            <a:bodyPr/>
            <a:lstStyle/>
            <a:p>
              <a:pPr>
                <a:defRPr b="0" i="0" strike="noStrike" sz="1200" u="none">
                  <a:solidFill>
                    <a:srgbClr val="1F29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F29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021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AF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548640"/>
            <a:ext cx="3291840" cy="3291840"/>
          </a:xfrm>
          <a:prstGeom prst="ellipse">
            <a:avLst/>
          </a:prstGeom>
          <a:solidFill>
            <a:srgbClr val="D5E4F0"/>
          </a:solidFill>
          <a:ln w="25400">
            <a:solidFill>
              <a:srgbClr val="245B7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589520" y="2651760"/>
            <a:ext cx="2011680" cy="2011680"/>
          </a:xfrm>
          <a:prstGeom prst="ellipse">
            <a:avLst/>
          </a:prstGeom>
          <a:solidFill>
            <a:srgbClr val="F3DDB8"/>
          </a:solidFill>
          <a:ln w="25400">
            <a:solidFill>
              <a:srgbClr val="A65F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73152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A65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EDAB 6808 · Assignment 4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88720"/>
            <a:ext cx="5852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1B3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Processing of Bitcoin Tweets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92608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modelling, sentiment polarity and Bitcoin volatility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31920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Lwazi Nhlapo (2021856345)  ·  Buhle Mbokodo (2024007920)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B.Com Hons Business Analytics · University of the Free State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1920240" cy="1463040"/>
          </a:xfrm>
          <a:prstGeom prst="roundRect">
            <a:avLst>
              <a:gd name="adj" fmla="val 5000"/>
            </a:avLst>
          </a:prstGeom>
          <a:solidFill>
            <a:srgbClr val="EAF1F7"/>
          </a:solidFill>
          <a:ln w="12700">
            <a:solidFill>
              <a:srgbClr val="C9D8E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2801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45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24,187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202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tweets analysed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560320" y="1143000"/>
            <a:ext cx="1920240" cy="1463040"/>
          </a:xfrm>
          <a:prstGeom prst="roundRect">
            <a:avLst>
              <a:gd name="adj" fmla="val 5000"/>
            </a:avLst>
          </a:prstGeom>
          <a:solidFill>
            <a:srgbClr val="EAF1F7"/>
          </a:solidFill>
          <a:ln w="12700">
            <a:solidFill>
              <a:srgbClr val="C9D8E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560320" y="12801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45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2651760" y="19202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dates, 6 Mar 2025 – 2 Mar 2026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63440" y="1143000"/>
            <a:ext cx="1920240" cy="1463040"/>
          </a:xfrm>
          <a:prstGeom prst="roundRect">
            <a:avLst>
              <a:gd name="adj" fmla="val 5000"/>
            </a:avLst>
          </a:prstGeom>
          <a:solidFill>
            <a:srgbClr val="EAF1F7"/>
          </a:solidFill>
          <a:ln w="12700">
            <a:solidFill>
              <a:srgbClr val="C9D8E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63440" y="12801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45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4754880" y="19202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NMF topics retained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766560" y="1143000"/>
            <a:ext cx="1920240" cy="1463040"/>
          </a:xfrm>
          <a:prstGeom prst="roundRect">
            <a:avLst>
              <a:gd name="adj" fmla="val 5000"/>
            </a:avLst>
          </a:prstGeom>
          <a:solidFill>
            <a:srgbClr val="EAF1F7"/>
          </a:solidFill>
          <a:ln w="12700">
            <a:solidFill>
              <a:srgbClr val="C9D8E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66560" y="12801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45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36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0" y="19202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tweets manually reviewed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880360"/>
            <a:ext cx="4023360" cy="1737360"/>
          </a:xfrm>
          <a:prstGeom prst="roundRect">
            <a:avLst>
              <a:gd name="adj" fmla="val 4211"/>
            </a:avLst>
          </a:prstGeom>
          <a:solidFill>
            <a:srgbClr val="EAF1F7"/>
          </a:solidFill>
          <a:ln w="12700">
            <a:solidFill>
              <a:srgbClr val="C9D8E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017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A65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 · Topic modelling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47472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the dominant themes in Bitcoin tweets, and how do they shift over time?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663440" y="2880360"/>
            <a:ext cx="4023360" cy="1737360"/>
          </a:xfrm>
          <a:prstGeom prst="roundRect">
            <a:avLst>
              <a:gd name="adj" fmla="val 4211"/>
            </a:avLst>
          </a:prstGeom>
          <a:solidFill>
            <a:srgbClr val="EAF1F7"/>
          </a:solidFill>
          <a:ln w="12700">
            <a:solidFill>
              <a:srgbClr val="C9D8E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846320" y="3017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A65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 · Sentiment and volatility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4846320" y="347472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tweet sentiment help explain or forecast next-day Bitcoin volatility?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and text preparation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3931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Sample: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30,083 tweets, up to 150 per date, reproducible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filter: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≥ 0.90 keeps 24,187; 5,896 excluded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Kept: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hashtags and domain terms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Removed: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URLs, mentions, boilerplate (bitcoin, btc, rt), stopwords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Caveat: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malformed records and unverified timestamps were repaired and flagged</a:t>
            </a:r>
            <a:endParaRPr lang="en-US" sz="1600" dirty="0"/>
          </a:p>
        </p:txBody>
      </p:sp>
      <p:pic>
        <p:nvPicPr>
          <p:cNvPr id="4" name="Image 0" descr="img/c13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188720"/>
            <a:ext cx="4206240" cy="2657499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0" y="38404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Top: source records per date. Bottom: English tweets kept per day.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topic method and number of topics</a:t>
            </a:r>
            <a:endParaRPr lang="en-US" sz="3000" dirty="0"/>
          </a:p>
        </p:txBody>
      </p:sp>
      <p:pic>
        <p:nvPicPr>
          <p:cNvPr id="3" name="Image 0" descr="img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8229600" cy="247178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365760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EAF1F7"/>
          </a:solidFill>
          <a:ln w="12700">
            <a:solidFill>
              <a:srgbClr val="C9D8E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94360" y="372160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65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NMF beats LDA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94360" y="4050792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NPMI 0.471 vs 0.111 at K = 6; top-term diversity 0.95 vs 0.72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3291840" y="365760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EAF1F7"/>
          </a:solidFill>
          <a:ln w="12700">
            <a:solidFill>
              <a:srgbClr val="C9D8E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429000" y="372160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65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NMF is stable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3429000" y="4050792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Two-seed stability 1.00 at K = 4 and 6, against 0.29 for LDA at K = 6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126480" y="365760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EAF1F7"/>
          </a:solidFill>
          <a:ln w="12700">
            <a:solidFill>
              <a:srgbClr val="C9D8E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263640" y="372160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65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K = 6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6263640" y="4050792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4 merged trading and NFT talk; K = 8 and 10 were less stable (0.70, 0.80)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topics: trading talk dominates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051560"/>
          <a:ext cx="484632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394960" y="1188720"/>
            <a:ext cx="32918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Trading: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47.5% of the conversation is prices, buy/sell and targets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 crypto: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NFT, news and airdrop topics add another 48.6%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Niche but distinctive: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Lightning faucet (2.4%) and Coin Hunt World (1.6%) are repeated templated posts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topic contains</a:t>
            </a:r>
            <a:endParaRPr lang="en-US" sz="3000" dirty="0"/>
          </a:p>
        </p:txBody>
      </p:sp>
      <p:pic>
        <p:nvPicPr>
          <p:cNvPr id="3" name="Image 0" descr="img/c36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4480560" cy="3628079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212080" y="1188720"/>
            <a:ext cx="3474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Market: </a:t>
            </a:r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“Long position… Entry… Target… Stop”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NFT: </a:t>
            </a:r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OpenSea, #nft and #Ethereum promotion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News: </a:t>
            </a:r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templated price alerts across many assets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Airdrops: </a:t>
            </a:r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giveaways and “great project” hype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Lightning: </a:t>
            </a:r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“claim free Lightning sats”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 Hunt: </a:t>
            </a:r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 and “join me playing” posts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topics moved over time</a:t>
            </a:r>
            <a:endParaRPr lang="en-US" sz="3000" dirty="0"/>
          </a:p>
        </p:txBody>
      </p:sp>
      <p:pic>
        <p:nvPicPr>
          <p:cNvPr id="3" name="Image 0" descr="img/image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97280"/>
            <a:ext cx="5303520" cy="329261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852160" y="1188720"/>
            <a:ext cx="29260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37.4% to 41.3% (+3.8 pp)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NFT/altcoin: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38.2% to 34.9% (−3.2 pp)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Others: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+1.8 pp; airdrops −0.8; Lightning −0.7; game −0.9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reached 68.2% in the week of 2 Feb 2026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5852160" y="3794760"/>
            <a:ext cx="2926080" cy="914400"/>
          </a:xfrm>
          <a:prstGeom prst="roundRect">
            <a:avLst>
              <a:gd name="adj" fmla="val 8000"/>
            </a:avLst>
          </a:prstGeom>
          <a:solidFill>
            <a:srgbClr val="EAF1F7"/>
          </a:solidFill>
          <a:ln w="12700">
            <a:solidFill>
              <a:srgbClr val="C9D8E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989320" y="388620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Describes the sampled conversation, not why it changed.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scoring: VADER and RoBERTa</a:t>
            </a:r>
            <a:endParaRPr lang="en-US" sz="3000" dirty="0"/>
          </a:p>
        </p:txBody>
      </p:sp>
      <p:pic>
        <p:nvPicPr>
          <p:cNvPr id="3" name="Image 0" descr="img/image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5669280" cy="201627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400800" y="1097280"/>
            <a:ext cx="2286000" cy="621792"/>
          </a:xfrm>
          <a:prstGeom prst="roundRect">
            <a:avLst>
              <a:gd name="adj" fmla="val 11765"/>
            </a:avLst>
          </a:prstGeom>
          <a:solidFill>
            <a:srgbClr val="EAF1F7"/>
          </a:solidFill>
          <a:ln w="12700">
            <a:solidFill>
              <a:srgbClr val="C9D8E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537960" y="11887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45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56.0%</a:t>
            </a:r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Positive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400800" y="1828800"/>
            <a:ext cx="2286000" cy="621792"/>
          </a:xfrm>
          <a:prstGeom prst="roundRect">
            <a:avLst>
              <a:gd name="adj" fmla="val 11765"/>
            </a:avLst>
          </a:prstGeom>
          <a:solidFill>
            <a:srgbClr val="EAF1F7"/>
          </a:solidFill>
          <a:ln w="12700">
            <a:solidFill>
              <a:srgbClr val="C9D8E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537960" y="19202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27.5%</a:t>
            </a:r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Neutral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400800" y="2560320"/>
            <a:ext cx="2286000" cy="621792"/>
          </a:xfrm>
          <a:prstGeom prst="roundRect">
            <a:avLst>
              <a:gd name="adj" fmla="val 11765"/>
            </a:avLst>
          </a:prstGeom>
          <a:solidFill>
            <a:srgbClr val="EAF1F7"/>
          </a:solidFill>
          <a:ln w="12700">
            <a:solidFill>
              <a:srgbClr val="C9D8E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537960" y="26517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65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16.5%</a:t>
            </a:r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Negative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338328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VADER compound ≥ +0.05 is Positive, ≤ −0.05 is Negative, otherwise Neutral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Spike at zero: 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factual or templated tweets score Neutral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method: 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Twitter RoBERTa on the same tweets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on 60 human-labelled tweets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926080" cy="1051560"/>
          </a:xfrm>
          <a:prstGeom prst="roundRect">
            <a:avLst>
              <a:gd name="adj" fmla="val 6957"/>
            </a:avLst>
          </a:prstGeom>
          <a:solidFill>
            <a:srgbClr val="EAF1F7"/>
          </a:solidFill>
          <a:ln w="12700">
            <a:solidFill>
              <a:srgbClr val="C9D8E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17043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A65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VADER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46304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5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63.3%</a:t>
            </a:r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38 of 60 correct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2926080" cy="1051560"/>
          </a:xfrm>
          <a:prstGeom prst="roundRect">
            <a:avLst>
              <a:gd name="adj" fmla="val 6957"/>
            </a:avLst>
          </a:prstGeom>
          <a:solidFill>
            <a:srgbClr val="EAF1F7"/>
          </a:solidFill>
          <a:ln w="12700">
            <a:solidFill>
              <a:srgbClr val="C9D8E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235915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A65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Twitter RoBERTa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65176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5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73.3%</a:t>
            </a:r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44 of 60 correct</a:t>
            </a:r>
            <a:endParaRPr lang="en-US" sz="1600" dirty="0"/>
          </a:p>
        </p:txBody>
      </p:sp>
      <p:pic>
        <p:nvPicPr>
          <p:cNvPr id="9" name="Image 0" descr="img/image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0" y="1097280"/>
            <a:ext cx="5029200" cy="2313148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457200" y="3611880"/>
            <a:ext cx="8229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Macro-F1: </a:t>
            </a:r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0.582 to 0.666; neutral recall 53.6% to 78.6%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Errors: </a:t>
            </a:r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promotion, sarcasm, factual price alerts, praise of one coin and criticism of another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Caution: </a:t>
            </a:r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3 Negative tweets in the sample; paired test p = 0.238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Volatility target and forecast design</a:t>
            </a:r>
            <a:endParaRPr lang="en-US" sz="3000" dirty="0"/>
          </a:p>
        </p:txBody>
      </p:sp>
      <p:pic>
        <p:nvPicPr>
          <p:cNvPr id="3" name="Image 0" descr="img/image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51560"/>
            <a:ext cx="4480560" cy="365568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120640" y="1188720"/>
            <a:ext cx="35661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next-day absolute log return, |ln(P t+1 / P t)|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Clock: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after UTC close of day t; lagged features only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Split: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dates; 159 training origins, 41-day holdout, 4 expanding folds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link: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sentiment vs next-day volatility, correlation −0.069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results: the simple mean wins on MAE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051560"/>
          <a:ext cx="512064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4805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 and Ridge rows use market and activity features.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669280" y="1188720"/>
            <a:ext cx="31089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MAE: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benchmark 0.01169 beats every model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and direction: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forests reach 0.0185 vs 0.0201 and 65.9% vs 53.7% high-volatility accuracy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Spikes: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models miss the large volatility days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sentiment help explain volatility?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51760" cy="3063240"/>
          </a:xfrm>
          <a:prstGeom prst="roundRect">
            <a:avLst>
              <a:gd name="adj" fmla="val 2759"/>
            </a:avLst>
          </a:prstGeom>
          <a:solidFill>
            <a:srgbClr val="EAF1F7"/>
          </a:solidFill>
          <a:ln w="12700">
            <a:solidFill>
              <a:srgbClr val="C9D8E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20700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A65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forecasts?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828800"/>
            <a:ext cx="2377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Barely. RoBERTa cuts MAE by 0.78% (Ridge) and 1.70% (forest); VADER worsens Ridge by 0.52%. It wins in 1 of 4 folds and its interval includes zero.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91840" y="1097280"/>
            <a:ext cx="2651760" cy="3063240"/>
          </a:xfrm>
          <a:prstGeom prst="roundRect">
            <a:avLst>
              <a:gd name="adj" fmla="val 2759"/>
            </a:avLst>
          </a:prstGeom>
          <a:solidFill>
            <a:srgbClr val="EAF1F7"/>
          </a:solidFill>
          <a:ln w="12700">
            <a:solidFill>
              <a:srgbClr val="C9D8E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29000" y="120700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A65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or negative?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3429000" y="1828800"/>
            <a:ext cx="2377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Negative: coefficient −0.000230. More positive sentiment goes with smaller predicted moves, not with price direction.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26480" y="1097280"/>
            <a:ext cx="2651760" cy="3063240"/>
          </a:xfrm>
          <a:prstGeom prst="roundRect">
            <a:avLst>
              <a:gd name="adj" fmla="val 2759"/>
            </a:avLst>
          </a:prstGeom>
          <a:solidFill>
            <a:srgbClr val="EAF1F7"/>
          </a:solidFill>
          <a:ln w="12700">
            <a:solidFill>
              <a:srgbClr val="C9D8E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63640" y="120700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A65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 or causation?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1828800"/>
            <a:ext cx="2377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 only. News can drive both tweets and volatility, and markets can drive sentiment.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2976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line: better sentiment labels do not guarantee better volatility forecasts.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097280"/>
          </a:xfrm>
          <a:prstGeom prst="roundRect">
            <a:avLst>
              <a:gd name="adj" fmla="val 6667"/>
            </a:avLst>
          </a:prstGeom>
          <a:solidFill>
            <a:srgbClr val="EAF1F7"/>
          </a:solidFill>
          <a:ln w="12700">
            <a:solidFill>
              <a:srgbClr val="C9D8E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325880"/>
            <a:ext cx="640080" cy="640080"/>
          </a:xfrm>
          <a:prstGeom prst="ellipse">
            <a:avLst/>
          </a:prstGeom>
          <a:solidFill>
            <a:srgbClr val="245B7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325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18872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65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Themes: </a:t>
            </a:r>
            <a:pPr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stable NMF topics. Trading signals dominate at 47.5% and grew slightly, while NFT talk drifted down.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200" y="2331720"/>
            <a:ext cx="8229600" cy="1097280"/>
          </a:xfrm>
          <a:prstGeom prst="roundRect">
            <a:avLst>
              <a:gd name="adj" fmla="val 6667"/>
            </a:avLst>
          </a:prstGeom>
          <a:solidFill>
            <a:srgbClr val="EAF1F7"/>
          </a:solidFill>
          <a:ln w="12700">
            <a:solidFill>
              <a:srgbClr val="C9D8E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560320"/>
            <a:ext cx="640080" cy="640080"/>
          </a:xfrm>
          <a:prstGeom prst="ellipse">
            <a:avLst/>
          </a:prstGeom>
          <a:solidFill>
            <a:srgbClr val="245B7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560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1508760" y="242316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65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Sentiment: </a:t>
            </a:r>
            <a:pPr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Twitter RoBERTa (73.3%) outperformed VADER (63.3%) on 60 human-labelled tweets.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57200" y="3566160"/>
            <a:ext cx="8229600" cy="1097280"/>
          </a:xfrm>
          <a:prstGeom prst="roundRect">
            <a:avLst>
              <a:gd name="adj" fmla="val 6667"/>
            </a:avLst>
          </a:prstGeom>
          <a:solidFill>
            <a:srgbClr val="EAF1F7"/>
          </a:solidFill>
          <a:ln w="12700">
            <a:solidFill>
              <a:srgbClr val="C9D8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3794760"/>
            <a:ext cx="640080" cy="640080"/>
          </a:xfrm>
          <a:prstGeom prst="ellipse">
            <a:avLst/>
          </a:prstGeom>
          <a:solidFill>
            <a:srgbClr val="245B7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794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1508760" y="365760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65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Volatility: </a:t>
            </a:r>
            <a:pPr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adds a small, uncertain gain. The mean benchmark has the lowest MAE, and the evidence is association, not causation.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Suggestions and recommendations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3657600"/>
          </a:xfrm>
          <a:prstGeom prst="roundRect">
            <a:avLst>
              <a:gd name="adj" fmla="val 2000"/>
            </a:avLst>
          </a:prstGeom>
          <a:solidFill>
            <a:srgbClr val="EAF1F7"/>
          </a:solidFill>
          <a:ln w="12700">
            <a:solidFill>
              <a:srgbClr val="C9D8E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A65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45920"/>
            <a:ext cx="3657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themes: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NMF topic shares as a conversation dashboard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first: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templated and promotional posts before analysis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RoBERTa: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it to VADER for tweet sentiment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cautious: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build trading rules on tweet sentiment alone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663440" y="1097280"/>
            <a:ext cx="4023360" cy="3657600"/>
          </a:xfrm>
          <a:prstGeom prst="roundRect">
            <a:avLst>
              <a:gd name="adj" fmla="val 2000"/>
            </a:avLst>
          </a:prstGeom>
          <a:solidFill>
            <a:srgbClr val="EAF1F7"/>
          </a:solidFill>
          <a:ln w="12700">
            <a:solidFill>
              <a:srgbClr val="C9D8E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4632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A65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645920"/>
            <a:ext cx="3657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data: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timestamps, add non-English tweets and a longer history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Bigger review: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hundreds of tweets, with more Negative cases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Richer models: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GARCH-X, ARIMAX, intraday data and topic-level sentiment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backtests: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intervals across many windows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2026-09-30T15:17:25Z</dcterms:created>
  <dcterms:modified xsi:type="dcterms:W3CDTF">2026-09-30T15:17:25Z</dcterms:modified>
</cp:coreProperties>
</file>